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2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7A6E64"/>
                </a:solidFill>
                <a:latin typeface="Calibri"/>
              </a:defRPr>
            </a:pPr>
            <a:r>
              <a:rPr sz="1100" b="0" i="0" u="none" strike="noStrike">
                <a:solidFill>
                  <a:srgbClr val="7A6E64"/>
                </a:solidFill>
                <a:latin typeface="Calibri"/>
              </a:rPr>
              <a:t>Концентрација метана у ваздуху (ppb)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Метан (ppb)</c:v>
                </c:pt>
              </c:strCache>
            </c:strRef>
          </c:tx>
          <c:spPr>
            <a:solidFill>
              <a:srgbClr val="B9573A"/>
            </a:solidFill>
            <a:ln w="38100" cap="flat">
              <a:solidFill>
                <a:srgbClr val="B9573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2A2420"/>
                    </a:solidFill>
                    <a:latin typeface="Calibri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B9573A"/>
              </a:solidFill>
              <a:ln w="9525" cap="flat">
                <a:solidFill>
                  <a:srgbClr val="B9573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1750</c:v>
                  </c:pt>
                  <c:pt idx="1">
                    <c:v>1850</c:v>
                  </c:pt>
                  <c:pt idx="2">
                    <c:v>1900</c:v>
                  </c:pt>
                  <c:pt idx="3">
                    <c:v>1950</c:v>
                  </c:pt>
                  <c:pt idx="4">
                    <c:v>1980</c:v>
                  </c:pt>
                  <c:pt idx="5">
                    <c:v>2000</c:v>
                  </c:pt>
                  <c:pt idx="6">
                    <c:v>2023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720</c:v>
                </c:pt>
                <c:pt idx="1">
                  <c:v>800</c:v>
                </c:pt>
                <c:pt idx="2">
                  <c:v>900</c:v>
                </c:pt>
                <c:pt idx="3">
                  <c:v>1130</c:v>
                </c:pt>
                <c:pt idx="4">
                  <c:v>1570</c:v>
                </c:pt>
                <c:pt idx="5">
                  <c:v>1770</c:v>
                </c:pt>
                <c:pt idx="6">
                  <c:v>1920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2A2420"/>
                  </a:solidFill>
                  <a:latin typeface="Calibri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A6E64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100"/>
          <c:min val="600"/>
        </c:scaling>
        <c:delete val="0"/>
        <c:axPos val="l"/>
        <c:majorGridlines>
          <c:spPr>
            <a:ln w="6350" cap="flat">
              <a:solidFill>
                <a:srgbClr val="E6E1D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A6E64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7A6E64"/>
                </a:solidFill>
                <a:latin typeface="Calibri"/>
              </a:defRPr>
            </a:pPr>
            <a:r>
              <a:rPr sz="1100" b="0" i="0" u="none" strike="noStrike">
                <a:solidFill>
                  <a:srgbClr val="7A6E64"/>
                </a:solidFill>
                <a:latin typeface="Calibri"/>
              </a:rPr>
              <a:t>Садржај хумуса (%)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Хумус (%)</c:v>
                </c:pt>
              </c:strCache>
            </c:strRef>
          </c:tx>
          <c:spPr>
            <a:solidFill>
              <a:srgbClr val="3B2A1E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A242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3B2A1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54402F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6B5240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8A6B52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A88A6B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Чернозем (Војводина)</c:v>
                  </c:pt>
                  <c:pt idx="1">
                    <c:v>Смоница</c:v>
                  </c:pt>
                  <c:pt idx="2">
                    <c:v>Гајњача</c:v>
                  </c:pt>
                  <c:pt idx="3">
                    <c:v>Подзол</c:v>
                  </c:pt>
                  <c:pt idx="4">
                    <c:v>Песковито тло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</c:v>
                </c:pt>
                <c:pt idx="1">
                  <c:v>4</c:v>
                </c:pt>
                <c:pt idx="2">
                  <c:v>2.5</c:v>
                </c:pt>
                <c:pt idx="3">
                  <c:v>1.5</c:v>
                </c:pt>
                <c:pt idx="4">
                  <c:v>0.5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2A2420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2A242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"/>
        </c:scaling>
        <c:delete val="0"/>
        <c:axPos val="b"/>
        <c:majorGridlines>
          <c:spPr>
            <a:ln w="6350" cap="flat">
              <a:solidFill>
                <a:srgbClr val="E6E1D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A6E64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Увод: органске супстанце нису само у живим бићима. Поставити питање публици где мисле да их има у неживој природи.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Дефиниција и граница органско/неорганско.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Преглед структуре презентације: идемо редом кроз четири сфере.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Кључна идеја: органске супстанце у неживој природи су углавном пореклом из некадашњих живих бића, али не све (космос!).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Извори: NOAA, IPCC AR6 (приближне вредности). Метан је порастао 2,6 пута од прединдустријског доба.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DOC ≈ 660–700 Гт C (Ханселл и сар.). Натурал сеепс ≈ 45–50% нафте у океану (NRC, 2003).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Вредности хумуса су типични распони за Србију (заокружено).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Фосилна горива су највећи концентрат органских супстанци у литосфери.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Ови материјали су минералоиди — немају кристалну структуру, али се налазе у Земљиној кори као и минерали.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Молекуле у свемиру детектују радио-телескопи по спектру. Аминокиселине у метеоритима су рацемске смеше — доказ да нису земаљско загађење.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До 1828. (Велер, синтеза урее) веровало се да органске супстанце може да створи само „животна сила“.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Сажетак значаја; повезати са свакодневним животом.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Крај.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.xml"/><Relationship Id="rId1" Type="http://schemas.openxmlformats.org/officeDocument/2006/relationships/image" Target="../media/image-7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8229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400" kern="0" dirty="0">
                <a:solidFill>
                  <a:srgbClr val="D99A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Хемија  ·  Природа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280160"/>
            <a:ext cx="76809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Заступљеност органских супстанци у неживој природи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246120"/>
            <a:ext cx="5760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8DF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Угљеник је свуда — у ваздуху, води, стенама и свемиру. Где се тачно крију органске супстанце изван живих бића?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A2420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Шта су органске супстанце?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34440"/>
            <a:ext cx="44805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A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Органске супстанце су једињења угљеника. Атоми угљеника се везују у ланце и прстенове, а за њих се везују водоник, кисеоник, азот, сумпор и фосфор. Зато их има на милионе — више него свих неорганских једињења заједно.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88036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573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Изузеци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200400"/>
            <a:ext cx="4480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7A6E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Нека једињења угљеника се ипак убрајају у неорганска: угљен-диоксид (CO₂), угљен-моноксид (CO), карбонати (кречњак, CaCO₃) и карбиди. Она јесу део приче о угљенику, али не и органске супстанце.</a:t>
            </a:r>
            <a:endParaRPr lang="en-US" sz="125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0" y="1097280"/>
            <a:ext cx="2926080" cy="292608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303520" y="411480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7A6E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Метан, CH₄ — најједноставнија органска супстанца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8229600" y="47091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6E64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A2420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Где их све има?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9728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7A6E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Четири „адресе“ органских супстанци изван живих бића</a:t>
            </a:r>
            <a:endParaRPr lang="en-US" sz="13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3383280" cy="338328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206240" y="15087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D99A3E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01</a:t>
            </a:r>
            <a:endParaRPr 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4846320" y="1508760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2420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Атмосфера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4846320" y="1801368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A6E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метан, испарљива органска једињења, аеросоли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4206240" y="23317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D99A3E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02</a:t>
            </a:r>
            <a:endParaRPr lang="en-US" sz="2600" dirty="0"/>
          </a:p>
        </p:txBody>
      </p:sp>
      <p:sp>
        <p:nvSpPr>
          <p:cNvPr id="9" name="Text 6"/>
          <p:cNvSpPr txBox="1"/>
          <p:nvPr/>
        </p:nvSpPr>
        <p:spPr>
          <a:xfrm>
            <a:off x="4846320" y="2331720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2420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Хидросфера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4846320" y="2624328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A6E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растворени органски угљеник, хуминске супстанце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4206240" y="31546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D99A3E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03</a:t>
            </a:r>
            <a:endParaRPr lang="en-US" sz="2600" dirty="0"/>
          </a:p>
        </p:txBody>
      </p:sp>
      <p:sp>
        <p:nvSpPr>
          <p:cNvPr id="12" name="Text 9"/>
          <p:cNvSpPr txBox="1"/>
          <p:nvPr/>
        </p:nvSpPr>
        <p:spPr>
          <a:xfrm>
            <a:off x="4846320" y="3154680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2420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Литосфера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4846320" y="3447288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A6E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хумус, тресет, угаљ, нафта, гас, ћилибар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4206240" y="39776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D99A3E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04</a:t>
            </a:r>
            <a:endParaRPr lang="en-US" sz="2600" dirty="0"/>
          </a:p>
        </p:txBody>
      </p:sp>
      <p:sp>
        <p:nvSpPr>
          <p:cNvPr id="15" name="Text 12"/>
          <p:cNvSpPr txBox="1"/>
          <p:nvPr/>
        </p:nvSpPr>
        <p:spPr>
          <a:xfrm>
            <a:off x="4846320" y="3977640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2420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Космос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4846320" y="4270248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A6E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метеорити, комете, међузвездани облаци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8229600" y="47091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6E64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A2420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Кружење угљеника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9728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7A6E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Жива и нежива природа су повезане кружењем органских супстанци</a:t>
            </a:r>
            <a:endParaRPr lang="en-US" sz="13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3931920" cy="349300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754880" y="1508760"/>
            <a:ext cx="38404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A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Биљке фотосинтезом везују CO₂ из ваздуха у органске супстанце. Када организми угину, део тих супстанци остаје у земљишту као хумус, део тоне на дно мора, а мали део се милионима година претвара у нафту, угаљ и гас.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4754880" y="3200400"/>
            <a:ext cx="3840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7A6E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Тако органске супстанце „из живота“ постају део неживе природе — а труљењем, сагоревањем и вулканима угљеник се враћа у атмосферу.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8229600" y="47091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6E64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A2420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Атмосфера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9728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7A6E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Мало по количини, велико по утицају</a:t>
            </a:r>
            <a:endParaRPr lang="en-US" sz="13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365760" y="1463040"/>
          <a:ext cx="475488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0" y="146304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B9573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CH₄</a:t>
            </a:r>
            <a:endParaRPr lang="en-US" sz="2800" dirty="0"/>
          </a:p>
        </p:txBody>
      </p:sp>
      <p:sp>
        <p:nvSpPr>
          <p:cNvPr id="6" name="Text 3"/>
          <p:cNvSpPr txBox="1"/>
          <p:nvPr/>
        </p:nvSpPr>
        <p:spPr>
          <a:xfrm>
            <a:off x="5486400" y="2011680"/>
            <a:ext cx="31089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A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Метан је главна органска супстанца у ваздуху. Настаје у мочварама, на пиринчаним пољима, у стомацима преживара и цурењем из гасовода. Има га само 0,0002 %, али као гас стаклене баште греје 80 пута јаче од CO₂.</a:t>
            </a:r>
            <a:endParaRPr lang="en-US" sz="1250" dirty="0"/>
          </a:p>
        </p:txBody>
      </p:sp>
      <p:sp>
        <p:nvSpPr>
          <p:cNvPr id="7" name="Text 4"/>
          <p:cNvSpPr txBox="1"/>
          <p:nvPr/>
        </p:nvSpPr>
        <p:spPr>
          <a:xfrm>
            <a:off x="5486400" y="361188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A2420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Испарљива органска једињења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5486400" y="3913632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7A6E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Мирис борове шуме су терпени; мирис кише — геосмин. Шуме их емитују више него сав саобраћај.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8229600" y="47091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6E64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3B2A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Хидросфера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9728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C9BB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Океан је највећи резервоар органских супстанци на планети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54480"/>
            <a:ext cx="2926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D99A3E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700</a:t>
            </a:r>
            <a:endParaRPr lang="en-US" sz="7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60604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DF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милијарди тона раствореног органског угљеника у океанима — колико и сав CO₂ у атмосфери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931920" y="1600200"/>
            <a:ext cx="1417320" cy="0"/>
          </a:xfrm>
          <a:prstGeom prst="line">
            <a:avLst/>
          </a:prstGeom>
          <a:noFill/>
          <a:ln w="12700">
            <a:solidFill>
              <a:srgbClr val="D99A3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931920" y="1737360"/>
            <a:ext cx="1417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Растворени органски угљеник (DOC)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3931920" y="2468880"/>
            <a:ext cx="14173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C9BB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Остаци планктона, шећери, аминокиселине, хуминске супстанце. Свака чаша морске воде садржи их на милионе молекула.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532120" y="1600200"/>
            <a:ext cx="1417320" cy="0"/>
          </a:xfrm>
          <a:prstGeom prst="line">
            <a:avLst/>
          </a:prstGeom>
          <a:noFill/>
          <a:ln w="12700">
            <a:solidFill>
              <a:srgbClr val="D99A3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532120" y="1737360"/>
            <a:ext cx="1417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Хуминске супстанце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5532120" y="2468880"/>
            <a:ext cx="14173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C9BB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Дају рекама и језерима смеђу боју („црне реке“ попут Рио Негра). Настају распадањем лишћа и тресета.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132320" y="1600200"/>
            <a:ext cx="1417320" cy="0"/>
          </a:xfrm>
          <a:prstGeom prst="line">
            <a:avLst/>
          </a:prstGeom>
          <a:noFill/>
          <a:ln w="12700">
            <a:solidFill>
              <a:srgbClr val="D99A3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132320" y="1737360"/>
            <a:ext cx="1417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Угљоводоници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7132320" y="2468880"/>
            <a:ext cx="14173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C9BB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Нафта природно цури са дна мора — око половине нафте у океану долази из природних извора, не од танкера.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0" y="47091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BA6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A2420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Земљиште: хумус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9728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7A6E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Најважнија органска супстанца неживе природе за живот на копну</a:t>
            </a:r>
            <a:endParaRPr lang="en-US" sz="13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08760"/>
            <a:ext cx="3840480" cy="2880360"/>
          </a:xfrm>
          <a:prstGeom prst="rect">
            <a:avLst/>
          </a:prstGeom>
        </p:spPr>
      </p:pic>
      <p:graphicFrame>
        <p:nvGraphicFramePr>
          <p:cNvPr id="5" name="Chart 0" descr=""/>
          <p:cNvGraphicFramePr/>
          <p:nvPr/>
        </p:nvGraphicFramePr>
        <p:xfrm>
          <a:off x="4663440" y="1371600"/>
          <a:ext cx="4023360" cy="2377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 2"/>
          <p:cNvSpPr txBox="1"/>
          <p:nvPr/>
        </p:nvSpPr>
        <p:spPr>
          <a:xfrm>
            <a:off x="4663440" y="3794760"/>
            <a:ext cx="4023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A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Хумус чине хуминске и фулво киселине — тамне супстанце настале распадањем биљних остатака. Задржава воду и минерале и даје тлу црну боју. Земљишта света држе више угљеника него атмосфера и све биљке заједно.</a:t>
            </a:r>
            <a:endParaRPr lang="en-US" sz="1150" dirty="0"/>
          </a:p>
        </p:txBody>
      </p:sp>
      <p:sp>
        <p:nvSpPr>
          <p:cNvPr id="7" name="Text 3"/>
          <p:cNvSpPr txBox="1"/>
          <p:nvPr/>
        </p:nvSpPr>
        <p:spPr>
          <a:xfrm>
            <a:off x="8229600" y="47091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6E64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A2420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Фосилна горива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9728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7A6E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Органске супстанце заробљене у стенама милионима година</a:t>
            </a:r>
            <a:endParaRPr lang="en-US" sz="13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08760"/>
            <a:ext cx="4754880" cy="264261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0" y="146304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573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Како настају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5669280" y="1828800"/>
            <a:ext cx="30175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–"/>
            </a:pPr>
            <a:r>
              <a:rPr lang="en-US" sz="1150" dirty="0">
                <a:solidFill>
                  <a:srgbClr val="2A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Биљке мочвара → тресет → лигнит → камени угаљ → антрацит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–"/>
            </a:pPr>
            <a:r>
              <a:rPr lang="en-US" sz="1150" dirty="0">
                <a:solidFill>
                  <a:srgbClr val="2A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Планктон на дну мора → кероген → нафта и природни гас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–"/>
            </a:pPr>
            <a:r>
              <a:rPr lang="en-US" sz="1150" dirty="0">
                <a:solidFill>
                  <a:srgbClr val="2A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Услови: без кисеоника, висок притисак, 60–150 °C, милиони година</a:t>
            </a:r>
            <a:endParaRPr lang="en-US" sz="1150" dirty="0"/>
          </a:p>
        </p:txBody>
      </p:sp>
      <p:sp>
        <p:nvSpPr>
          <p:cNvPr id="7" name="Text 4"/>
          <p:cNvSpPr txBox="1"/>
          <p:nvPr/>
        </p:nvSpPr>
        <p:spPr>
          <a:xfrm>
            <a:off x="5669280" y="352044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573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Занимљиво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5669280" y="3858768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A6E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Нафта је смеша од преко 10 000 угљоводоника. Најстарији угаљ у Србији (Ртањ) стар је око 300 милиона година.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8229600" y="47091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6E64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A2420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Минерали органског порекла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9728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7A6E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Када органска супстанца постане „камен“</a:t>
            </a:r>
            <a:endParaRPr lang="en-US" sz="13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46320" y="1463040"/>
            <a:ext cx="3749040" cy="281635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846320" y="4370832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6E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Ћилибар — фосилна смола четинара, стара 30–90 милиона година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508760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2420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Ћилибар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801368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A6E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очврсла смола дрвећа; у њему су сачувани инсекти и биљке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2286000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2420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Битумен и асфалт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2578608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A6E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природне смеше тешких угљоводоника (језеро Пич, Тринидад)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3063240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2420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Озокерит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3355848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A6E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„земни восак“ — природни парафин из нафтоносних стена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3840480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2420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Гагат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548640" y="4133088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A6E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црни, сјајни фосилизовани дрво-угаљ, користи се за накит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8229600" y="47091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6E64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E0A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Органске супстанце у космосу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9728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B8AE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Угљеникова хемија није земаљска привилегија</a:t>
            </a:r>
            <a:endParaRPr lang="en-US" sz="13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08760"/>
            <a:ext cx="4023360" cy="30175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937760" y="150876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99A3E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300+</a:t>
            </a:r>
            <a:endParaRPr lang="en-US" sz="2400" dirty="0"/>
          </a:p>
        </p:txBody>
      </p:sp>
      <p:sp>
        <p:nvSpPr>
          <p:cNvPr id="6" name="Text 3"/>
          <p:cNvSpPr txBox="1"/>
          <p:nvPr/>
        </p:nvSpPr>
        <p:spPr>
          <a:xfrm>
            <a:off x="6263640" y="1554480"/>
            <a:ext cx="23774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E8DF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органских молекула откривено у међузвезданом простору — метанол, формалдехид, етанол…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4937760" y="256032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99A3E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1969.</a:t>
            </a:r>
            <a:endParaRPr lang="en-US" sz="2400" dirty="0"/>
          </a:p>
        </p:txBody>
      </p:sp>
      <p:sp>
        <p:nvSpPr>
          <p:cNvPr id="8" name="Text 5"/>
          <p:cNvSpPr txBox="1"/>
          <p:nvPr/>
        </p:nvSpPr>
        <p:spPr>
          <a:xfrm>
            <a:off x="6263640" y="2606040"/>
            <a:ext cx="23774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E8DF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метеорит Марчисон пао у Аустралији — у њему је нађено преко 70 аминокиселина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937760" y="361188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99A3E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Титан</a:t>
            </a:r>
            <a:endParaRPr lang="en-US" sz="2400" dirty="0"/>
          </a:p>
        </p:txBody>
      </p:sp>
      <p:sp>
        <p:nvSpPr>
          <p:cNvPr id="10" name="Text 7"/>
          <p:cNvSpPr txBox="1"/>
          <p:nvPr/>
        </p:nvSpPr>
        <p:spPr>
          <a:xfrm>
            <a:off x="6263640" y="3657600"/>
            <a:ext cx="23774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E8DF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Сатурнов месец има језера и кишу од течног метана и етана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8229600" y="47091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8AEC4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A2420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Могу ли настати без живота?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9728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7A6E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Милеров експеримент, 1953.</a:t>
            </a:r>
            <a:endParaRPr lang="en-US" sz="13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08760"/>
            <a:ext cx="3566160" cy="311810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480560" y="1508760"/>
            <a:ext cx="4114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A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Стенли Милер је у стакленој апаратури спојио „океан“ (воду) и „атмосферу“ младе Земље (метан, амонијак, водоник), па кроз смешу недељу дана пуштао електричне варнице — вештачке муње.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4480560" y="283464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573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Резултат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4480560" y="3200400"/>
            <a:ext cx="4114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–"/>
            </a:pPr>
            <a:r>
              <a:rPr lang="en-US" sz="1200" dirty="0">
                <a:solidFill>
                  <a:srgbClr val="2A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Вода је потамнела — настало је више од 20 аминокиселина и других органских једињења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–"/>
            </a:pPr>
            <a:r>
              <a:rPr lang="en-US" sz="1200" dirty="0">
                <a:solidFill>
                  <a:srgbClr val="2A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Доказ да органске супстанце настају и абиогено, из неорганских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–"/>
            </a:pPr>
            <a:r>
              <a:rPr lang="en-US" sz="1200" dirty="0">
                <a:solidFill>
                  <a:srgbClr val="2A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Слични процеси се и данас одвијају у вулканима, хидротермалним изворима и космосу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8229600" y="47091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6E64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3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A2420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Зашто је то важно?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3931920" cy="146304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554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99A3E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1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417320" y="1572768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2420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Енергија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417320" y="1920240"/>
            <a:ext cx="2834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A6E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Нафта, угаљ и гас дају око 80 % светске енергије — све су то органске супстанце из неживе природе.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663440" y="1371600"/>
            <a:ext cx="3931920" cy="146304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892040" y="1554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99A3E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2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5532120" y="1572768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2420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Плодност тла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5532120" y="1920240"/>
            <a:ext cx="2834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A6E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Без хумуса нема пољопривреде. Један сантиметар хумуса настаје око 100 година.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48640" y="3063240"/>
            <a:ext cx="3931920" cy="146304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77240" y="32461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99A3E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3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1417320" y="3264408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2420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Клима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417320" y="3611880"/>
            <a:ext cx="2834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A6E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Метан и CO₂ из земљишта, мочвара и пермафроста одлучују о температури планете.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663440" y="3063240"/>
            <a:ext cx="3931920" cy="146304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892040" y="32461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99A3E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4</a:t>
            </a:r>
            <a:endParaRPr lang="en-US" sz="3000" dirty="0"/>
          </a:p>
        </p:txBody>
      </p:sp>
      <p:sp>
        <p:nvSpPr>
          <p:cNvPr id="17" name="Text 15"/>
          <p:cNvSpPr txBox="1"/>
          <p:nvPr/>
        </p:nvSpPr>
        <p:spPr>
          <a:xfrm>
            <a:off x="5532120" y="3264408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2420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Порекло живота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5532120" y="3611880"/>
            <a:ext cx="2834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A6E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Органске супстанце из космоса и младе Земље су можда први кораци ка првим ћелијама.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8229600" y="47091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6E64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554480"/>
            <a:ext cx="7863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Хвала на пажњи</a:t>
            </a:r>
            <a:endParaRPr lang="en-US" sz="5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65176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D99A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Питања?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420624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BB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Заступљеност органских супстанци у неживој природи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2026-09-30T21:25:39Z</dcterms:created>
  <dcterms:modified xsi:type="dcterms:W3CDTF">2026-09-30T21:25:39Z</dcterms:modified>
</cp:coreProperties>
</file>