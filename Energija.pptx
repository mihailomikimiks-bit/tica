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Удео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B3A"/>
              </a:solidFill>
              <a:effectLst/>
            </c:spPr>
          </c:dPt>
          <c:dPt>
            <c:idx val="1"/>
            <c:bubble3D val="0"/>
            <c:spPr>
              <a:solidFill>
                <a:srgbClr val="5F7385"/>
              </a:solidFill>
              <a:effectLst/>
            </c:spPr>
          </c:dPt>
          <c:dPt>
            <c:idx val="2"/>
            <c:bubble3D val="0"/>
            <c:spPr>
              <a:solidFill>
                <a:srgbClr val="8A9AAA"/>
              </a:solidFill>
              <a:effectLst/>
            </c:spPr>
          </c:dPt>
          <c:dPt>
            <c:idx val="3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bubble3D val="0"/>
            <c:spPr>
              <a:solidFill>
                <a:srgbClr val="9B59B6"/>
              </a:solidFill>
              <a:effectLst/>
            </c:spPr>
          </c:dPt>
          <c:dPt>
            <c:idx val="5"/>
            <c:bubble3D val="0"/>
            <c:spPr>
              <a:solidFill>
                <a:srgbClr val="3DBE7A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Нафта</c:v>
                </c:pt>
                <c:pt idx="1">
                  <c:v>Угаљ</c:v>
                </c:pt>
                <c:pt idx="2">
                  <c:v>Природни гас</c:v>
                </c:pt>
                <c:pt idx="3">
                  <c:v>Хидро</c:v>
                </c:pt>
                <c:pt idx="4">
                  <c:v>Нуклеарна</c:v>
                </c:pt>
                <c:pt idx="5">
                  <c:v>Ветар, сунце и остало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31.7</c:v>
                </c:pt>
                <c:pt idx="1">
                  <c:v>26.5</c:v>
                </c:pt>
                <c:pt idx="2">
                  <c:v>23.3</c:v>
                </c:pt>
                <c:pt idx="3">
                  <c:v>6.4</c:v>
                </c:pt>
                <c:pt idx="4">
                  <c:v>4</c:v>
                </c:pt>
                <c:pt idx="5">
                  <c:v>8.1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B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ЕЈ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B3A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1990</c:v>
                  </c:pt>
                  <c:pt idx="1">
                    <c:v>1995</c:v>
                  </c:pt>
                  <c:pt idx="2">
                    <c:v>2000</c:v>
                  </c:pt>
                  <c:pt idx="3">
                    <c:v>2005</c:v>
                  </c:pt>
                  <c:pt idx="4">
                    <c:v>2010</c:v>
                  </c:pt>
                  <c:pt idx="5">
                    <c:v>2015</c:v>
                  </c:pt>
                  <c:pt idx="6">
                    <c:v>2020</c:v>
                  </c:pt>
                  <c:pt idx="7">
                    <c:v>2023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345</c:v>
                </c:pt>
                <c:pt idx="1">
                  <c:v>365</c:v>
                </c:pt>
                <c:pt idx="2">
                  <c:v>400</c:v>
                </c:pt>
                <c:pt idx="3">
                  <c:v>460</c:v>
                </c:pt>
                <c:pt idx="4">
                  <c:v>510</c:v>
                </c:pt>
                <c:pt idx="5">
                  <c:v>550</c:v>
                </c:pt>
                <c:pt idx="6">
                  <c:v>555</c:v>
                </c:pt>
                <c:pt idx="7">
                  <c:v>620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B3A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3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300"/>
        </c:scaling>
        <c:delete val="0"/>
        <c:axPos val="l"/>
        <c:majorGridlines>
          <c:spPr>
            <a:ln w="635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3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B2B3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B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B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B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2B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2B3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2B3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A9AA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Кина</c:v>
                  </c:pt>
                  <c:pt idx="1">
                    <c:v>САД</c:v>
                  </c:pt>
                  <c:pt idx="2">
                    <c:v>Индија</c:v>
                  </c:pt>
                  <c:pt idx="3">
                    <c:v>Русија</c:v>
                  </c:pt>
                  <c:pt idx="4">
                    <c:v>Јапан</c:v>
                  </c:pt>
                  <c:pt idx="5">
                    <c:v>Немачка</c:v>
                  </c:pt>
                  <c:pt idx="6">
                    <c:v>Остатак света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</c:v>
                </c:pt>
                <c:pt idx="1">
                  <c:v>16</c:v>
                </c:pt>
                <c:pt idx="2">
                  <c:v>6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41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B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635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3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Уводни слајд. Питање за публику: да ли знате колико енергије потрошите за један дан?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Дефинисати енергију и показати колико је присутна у свакодневном животу.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Извор: процене на основу Енергy Институте Статистицал Ревиеw и IEA. Вредности су заокружене.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Необновљиви извори: настајали милионима година, троше се брже него што се обнављају.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Обновљиви извори расту најбрже. Недостатак: сунце и ветар нису увек доступни — потребно складиштење.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Објаснити ланац: производња → пренос → дистрибуција → потрошња.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Раст потрошње прати раст становништва и економије, нарочито Азије.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Разлика између укупне потрошње и потрошње по глави становника.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Подаци IEA, заокружено. Напомена: ово је финална потрошња, не примарна.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Подаци ЕПС и Министарства енергетике, приближне вредности за 2023–2024.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Дискусија: који је изазов највећи за Србију?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Нагласити да су најјефтинија енергија она коју не потрошимо.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Завршити питањем за публику: шта ћете ви променити већ сутра?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D2E">
              <a:alpha val="65000"/>
            </a:srgbClr>
          </a:solidFill>
          <a:ln w="12700">
            <a:solidFill>
              <a:srgbClr val="0B1D2E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ПРОИЗВОДЊА И ПОТРОШЊА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ЕНЕРГИЈЕ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D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Одакле долази енергија коју користимо сваког дана — и куда она одлази?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Презентација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Шта је енергија?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Енергија је способност да се обави рад. Без ње нема светла, топлоте, саобраћаја ни интернета. Све што нас окружује покреће неки облик енергије.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7066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25603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Светлост и топлота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Осветљење, грејање и хлађење наших домова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227832"/>
            <a:ext cx="457200" cy="457200"/>
          </a:xfrm>
          <a:prstGeom prst="ellipse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32841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1821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Кретање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Аутомобили, возови, авиони и бродови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95020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380390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Производња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Фабрике, храна, одећа, грађевинарство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4471416"/>
            <a:ext cx="457200" cy="457200"/>
          </a:xfrm>
          <a:prstGeom prst="ellipse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57200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43000" y="442569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Комуникација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Телефони, рачунари, интернет, дата центри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914400"/>
            <a:ext cx="3657600" cy="36576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Одакле свет добија енергију?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Удео извора у светској примарној енергији (2023, приближно)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46304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577840" y="1554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80%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светске енергије и даље долази из фосилних горива — нафте, угља и гаса.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94960" y="320040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577840" y="3291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DB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×3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толико су порасле соларна и ветро енергија у последњих 10 година — најбрже растући извори.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Необновљиви извори енергије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566160" cy="27706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069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Термоелектрана на угаљ — и даље највећи извор струје у свету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480560" y="1234440"/>
            <a:ext cx="4206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617720" y="1353312"/>
            <a:ext cx="502920" cy="502920"/>
          </a:xfrm>
          <a:prstGeom prst="ellipse">
            <a:avLst/>
          </a:prstGeom>
          <a:solidFill>
            <a:srgbClr val="0B1D2E"/>
          </a:solidFill>
          <a:ln w="12700">
            <a:solidFill>
              <a:srgbClr val="0B1D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362" y="1463954"/>
            <a:ext cx="281635" cy="28163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57800" y="12801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Угаљ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Најпрљавији извор, али јефтин и доступан. Главни извор струје у Кини, Индији и Србији.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480560" y="2103120"/>
            <a:ext cx="4206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617720" y="2221992"/>
            <a:ext cx="502920" cy="502920"/>
          </a:xfrm>
          <a:prstGeom prst="ellipse">
            <a:avLst/>
          </a:prstGeom>
          <a:solidFill>
            <a:srgbClr val="0B1D2E"/>
          </a:solidFill>
          <a:ln w="12700">
            <a:solidFill>
              <a:srgbClr val="0B1D2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362" y="2332634"/>
            <a:ext cx="281635" cy="28163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7800" y="214884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Нафта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Покреће скоро сав саобраћај. Резерве су ограничене, а цена зависи од политике.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480560" y="2971800"/>
            <a:ext cx="4206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617720" y="3090672"/>
            <a:ext cx="502920" cy="502920"/>
          </a:xfrm>
          <a:prstGeom prst="ellipse">
            <a:avLst/>
          </a:prstGeom>
          <a:solidFill>
            <a:srgbClr val="0B1D2E"/>
          </a:solidFill>
          <a:ln w="12700">
            <a:solidFill>
              <a:srgbClr val="0B1D2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362" y="3201314"/>
            <a:ext cx="281635" cy="28163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57800" y="301752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Природни гас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Чистији од угља, користи се за грејање и струју. Зависност од увоза је ризик.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480560" y="3840480"/>
            <a:ext cx="4206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617720" y="3959352"/>
            <a:ext cx="502920" cy="5029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362" y="4069994"/>
            <a:ext cx="281635" cy="28163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257800" y="388620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Нуклеарна енергија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Огромна снага без CO₂, али скупа изградња и питање отпада.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Обновљиви извори енергије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5837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Сунце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Соларни панели — најјефтинија нова струја на свету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51760" y="128016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834640" y="146304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341" y="15837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3464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Ветар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83464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Ветропаркови на копну и на мору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246120"/>
            <a:ext cx="548640" cy="548640"/>
          </a:xfrm>
          <a:prstGeom prst="ellipse">
            <a:avLst/>
          </a:prstGeom>
          <a:solidFill>
            <a:srgbClr val="2B8FBF"/>
          </a:solidFill>
          <a:ln w="12700">
            <a:solidFill>
              <a:srgbClr val="2B8FB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33668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Хидроелектране — најстарији обновљиви извор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651760" y="306324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834640" y="3246120"/>
            <a:ext cx="548640" cy="548640"/>
          </a:xfrm>
          <a:prstGeom prst="ellipse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5341" y="336682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83464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Биомаса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283464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Дрво, отпад и геотермална топлота из Земље</a:t>
            </a:r>
            <a:endParaRPr lang="en-US" sz="10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280160"/>
            <a:ext cx="3749040" cy="291693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937760" y="4297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Обнављају се природно и не загађују ваздух током рада.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 енергије до утичнице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1715414"/>
            <a:ext cx="409651" cy="40965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37360" y="1810512"/>
            <a:ext cx="365760" cy="228600"/>
          </a:xfrm>
          <a:prstGeom prst="rightArrow">
            <a:avLst/>
          </a:prstGeom>
          <a:solidFill>
            <a:srgbClr val="3E5A75"/>
          </a:solidFill>
          <a:ln w="12700">
            <a:solidFill>
              <a:srgbClr val="3E5A7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Извор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Угаљ, гас, вода, ветар или сунце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560320" y="1554480"/>
            <a:ext cx="731520" cy="731520"/>
          </a:xfrm>
          <a:prstGeom prst="ellipse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254" y="1715414"/>
            <a:ext cx="409651" cy="40965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83280" y="1810512"/>
            <a:ext cx="365760" cy="228600"/>
          </a:xfrm>
          <a:prstGeom prst="rightArrow">
            <a:avLst/>
          </a:prstGeom>
          <a:solidFill>
            <a:srgbClr val="3E5A75"/>
          </a:solidFill>
          <a:ln w="12700">
            <a:solidFill>
              <a:srgbClr val="3E5A7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10312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Електрана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219456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Турбина и генератор претварају енергију у струју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06240" y="155448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174" y="1715414"/>
            <a:ext cx="409651" cy="409651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29200" y="1810512"/>
            <a:ext cx="365760" cy="228600"/>
          </a:xfrm>
          <a:prstGeom prst="rightArrow">
            <a:avLst/>
          </a:prstGeom>
          <a:solidFill>
            <a:srgbClr val="3E5A75"/>
          </a:solidFill>
          <a:ln w="12700">
            <a:solidFill>
              <a:srgbClr val="3E5A7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74904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Пренос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384048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Далеководи високог напона преносе струју стотинама км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852160" y="1554480"/>
            <a:ext cx="731520" cy="731520"/>
          </a:xfrm>
          <a:prstGeom prst="ellipse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094" y="1715414"/>
            <a:ext cx="409651" cy="40965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675120" y="1810512"/>
            <a:ext cx="365760" cy="228600"/>
          </a:xfrm>
          <a:prstGeom prst="rightArrow">
            <a:avLst/>
          </a:prstGeom>
          <a:solidFill>
            <a:srgbClr val="3E5A75"/>
          </a:solidFill>
          <a:ln w="12700">
            <a:solidFill>
              <a:srgbClr val="3E5A75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39496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Дистрибуција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Трафостанице спуштају напон до наших домова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498080" y="155448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9014" y="1715414"/>
            <a:ext cx="409651" cy="40965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4088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Потрошња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713232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Уређаји, светло, грејање, индустрија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14118"/>
            </a:avLst>
          </a:prstGeom>
          <a:solidFill>
            <a:srgbClr val="132C44"/>
          </a:solidFill>
          <a:ln w="12700">
            <a:solidFill>
              <a:srgbClr val="132C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777240" y="38862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Занимљивост: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путу од електране до потрошача изгуби се 5–10% струје као топлота у кабловима. У Србији су ти губици и до 12%.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Свет троши све више енергије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Светска потрошња примарне енергије (ексаџули, ЕЈ)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46304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309360" y="1554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+80%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240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пораст потрошње од 1990. године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320040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3977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једини пад у модерној историји — пандемија је зауставила свет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 троши највише енергије?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Удео у светској потрошњи енергије, % (2023, приближно)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463040"/>
            <a:ext cx="2926080" cy="3337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89320" y="169164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021" y="18123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67512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 по становнику…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989320" y="2377440"/>
            <a:ext cx="2514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Просечан Американац троши 2× више енергије од Европљанина и 3× више од Кинеза.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Становник Африке троши 10× мање од становника САД.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 700 милиона људи у свету и даље нема приступ струји.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шта се енергија троши?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Финална потрошња енергије по секторима, % (свет)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0B1D2E"/>
          </a:solidFill>
          <a:ln w="12700">
            <a:solidFill>
              <a:srgbClr val="0B1D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8123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44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Индустрија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челик, цемент, хемија, храна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150876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88920" y="169164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621" y="181234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8892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36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2944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Саобраћај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78892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друмски саобраћај чини ¾ тога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150876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169164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021" y="181234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4632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944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Домаћинства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84632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грејање, кување, уређаји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720840" y="150876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03720" y="1691640"/>
            <a:ext cx="548640" cy="548640"/>
          </a:xfrm>
          <a:prstGeom prst="ellipse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421" y="181234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0372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B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360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2944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Услуге и остало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90372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канцеларије, школе, пољопривреда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3840480"/>
            <a:ext cx="8046720" cy="868680"/>
          </a:xfrm>
          <a:prstGeom prst="roundRect">
            <a:avLst>
              <a:gd name="adj" fmla="val 12632"/>
            </a:avLst>
          </a:prstGeom>
          <a:solidFill>
            <a:srgbClr val="0B1D2E"/>
          </a:solidFill>
          <a:ln w="12700">
            <a:solidFill>
              <a:srgbClr val="0B1D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400507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125773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508760" y="38862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Скривени потрошач: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грејање и хлађење простора чине око 50% енергије коју користе зграде. Добра изолација штеди више него било који уређај.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Енергија у Србији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566160" cy="27706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069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Ђердап на Дунаву — највећа хидроелектрана у Србији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480560" y="1234440"/>
            <a:ext cx="20574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663440" y="13441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≈65%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8928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струје долази из угља (лигнита) — ТЕ Никола Тесла, Костолац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29400" y="1234440"/>
            <a:ext cx="20574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12280" y="13441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≈30%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18928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хидроелектрана — Ђердап, Бајина Башта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80560" y="2651760"/>
            <a:ext cx="20574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663440" y="27614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B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≈5%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33101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ветра, сунца и биомасе — али брзо расте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29400" y="2651760"/>
            <a:ext cx="20574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812280" y="27614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33101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гаса и већина нафте се увози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Србија троши око 2× више енергије по јединици БДП-а од просека ЕУ — велика прилика за уштеду.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D2E">
              <a:alpha val="70000"/>
            </a:srgbClr>
          </a:solidFill>
          <a:ln w="12700">
            <a:solidFill>
              <a:srgbClr val="0B1D2E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Највећи изазови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32C44"/>
          </a:solidFill>
          <a:ln w="12700">
            <a:solidFill>
              <a:srgbClr val="132C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16294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Климатске промене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Енергетика прави ¾ светских емисија гасова стаклене баште.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32C44"/>
          </a:solidFill>
          <a:ln w="12700">
            <a:solidFill>
              <a:srgbClr val="132C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508760"/>
            <a:ext cx="548640" cy="548640"/>
          </a:xfrm>
          <a:prstGeom prst="ellipse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021" y="16294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Зависност и сигурност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577840" y="19202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Ратови и кризе дижу цене гаса и нафте преко ноћи.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32C44"/>
          </a:solidFill>
          <a:ln w="12700">
            <a:solidFill>
              <a:srgbClr val="132C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1" y="33211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Растућа потражња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611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Клима-уређаји, електрични аутомобили и AI дата центри траже све више струје.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32C44"/>
          </a:solidFill>
          <a:ln w="12700">
            <a:solidFill>
              <a:srgbClr val="132C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200400"/>
            <a:ext cx="548640" cy="548640"/>
          </a:xfrm>
          <a:prstGeom prst="ellipse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021" y="33211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7784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Складиштење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577840" y="3611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Сунце и ветар не раде увек — потребне су батерије и паметне мреже.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Шта можемо да урадимо?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Енергетска транзиција — велике одлуке и мали кораци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0B1D2E"/>
          </a:solidFill>
          <a:ln w="12700">
            <a:solidFill>
              <a:srgbClr val="0B1D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8123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нивоу државе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Улагање у соларне и ветро електране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Модернизација мреже и смањење губитака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Постепено гашење старих термоелектрана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Подстицаји за изолацију зграда и топлотне пумпе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50876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41" y="18123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куће — већ данас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3774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ЛЕД сијалице троше 80% мање од обичних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Искључи уређаје из „стенд-бај“ режима — до 10% рачуна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Термостат нижи за 1°C = 6% мање енергије за грејање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Пешачење, бицикл и јавни превоз уместо аута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D2E">
              <a:alpha val="75000"/>
            </a:srgbClr>
          </a:solidFill>
          <a:ln w="12700">
            <a:solidFill>
              <a:srgbClr val="0B1D2E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ЗАКЉУЧАК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Енергија покреће свет — а начин на који је производимо и трошимо одлучује какав ће тај свет бити.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6" y="2467966"/>
            <a:ext cx="230429" cy="23042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2350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енергије још долази из фосилних горива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6" y="3016606"/>
            <a:ext cx="230429" cy="23042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8986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Потрошња расте — свет, Азија, дата центри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474720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6" y="3565246"/>
            <a:ext cx="230429" cy="23042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34472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Обновљиви извори су најбрже растући и најјефтинији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4023360"/>
            <a:ext cx="411480" cy="411480"/>
          </a:xfrm>
          <a:prstGeom prst="ellipse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6" y="4113886"/>
            <a:ext cx="230429" cy="23042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39959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Најјефтинија енергија је она коју не потрошимо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D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Хвала на пажњи!  •  Питања?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2026-09-30T21:25:38Z</dcterms:created>
  <dcterms:modified xsi:type="dcterms:W3CDTF">2026-09-30T21:25:38Z</dcterms:modified>
</cp:coreProperties>
</file>