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Udeo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B3A"/>
              </a:solidFill>
              <a:effectLst/>
            </c:spPr>
          </c:dPt>
          <c:dPt>
            <c:idx val="1"/>
            <c:bubble3D val="0"/>
            <c:spPr>
              <a:solidFill>
                <a:srgbClr val="5F7385"/>
              </a:solidFill>
              <a:effectLst/>
            </c:spPr>
          </c:dPt>
          <c:dPt>
            <c:idx val="2"/>
            <c:bubble3D val="0"/>
            <c:spPr>
              <a:solidFill>
                <a:srgbClr val="8A9AAA"/>
              </a:solidFill>
              <a:effectLst/>
            </c:spPr>
          </c:dPt>
          <c:dPt>
            <c:idx val="3"/>
            <c:bubble3D val="0"/>
            <c:spPr>
              <a:solidFill>
                <a:srgbClr val="1C7293"/>
              </a:solidFill>
              <a:effectLst/>
            </c:spPr>
          </c:dPt>
          <c:dPt>
            <c:idx val="4"/>
            <c:bubble3D val="0"/>
            <c:spPr>
              <a:solidFill>
                <a:srgbClr val="9B59B6"/>
              </a:solidFill>
              <a:effectLst/>
            </c:spPr>
          </c:dPt>
          <c:dPt>
            <c:idx val="5"/>
            <c:bubble3D val="0"/>
            <c:spPr>
              <a:solidFill>
                <a:srgbClr val="3DBE7A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Nafta</c:v>
                </c:pt>
                <c:pt idx="1">
                  <c:v>Ugalj</c:v>
                </c:pt>
                <c:pt idx="2">
                  <c:v>Prirodni gas</c:v>
                </c:pt>
                <c:pt idx="3">
                  <c:v>Hidro</c:v>
                </c:pt>
                <c:pt idx="4">
                  <c:v>Nuklearna</c:v>
                </c:pt>
                <c:pt idx="5">
                  <c:v>Vetar, sunce i ostalo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31.7</c:v>
                </c:pt>
                <c:pt idx="1">
                  <c:v>26.5</c:v>
                </c:pt>
                <c:pt idx="2">
                  <c:v>23.3</c:v>
                </c:pt>
                <c:pt idx="3">
                  <c:v>6.4</c:v>
                </c:pt>
                <c:pt idx="4">
                  <c:v>4</c:v>
                </c:pt>
                <c:pt idx="5">
                  <c:v>8.1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B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EJ</c:v>
                </c:pt>
              </c:strCache>
            </c:strRef>
          </c:tx>
          <c:spPr>
            <a:solidFill>
              <a:srgbClr val="F5A623"/>
            </a:solidFill>
            <a:ln w="38100" cap="flat">
              <a:solidFill>
                <a:srgbClr val="F5A62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B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5A623"/>
              </a:solidFill>
              <a:ln w="9525" cap="flat">
                <a:solidFill>
                  <a:srgbClr val="F5A62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1990</c:v>
                  </c:pt>
                  <c:pt idx="1">
                    <c:v>1995</c:v>
                  </c:pt>
                  <c:pt idx="2">
                    <c:v>2000</c:v>
                  </c:pt>
                  <c:pt idx="3">
                    <c:v>2005</c:v>
                  </c:pt>
                  <c:pt idx="4">
                    <c:v>2010</c:v>
                  </c:pt>
                  <c:pt idx="5">
                    <c:v>2015</c:v>
                  </c:pt>
                  <c:pt idx="6">
                    <c:v>2020</c:v>
                  </c:pt>
                  <c:pt idx="7">
                    <c:v>2023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345</c:v>
                </c:pt>
                <c:pt idx="1">
                  <c:v>365</c:v>
                </c:pt>
                <c:pt idx="2">
                  <c:v>400</c:v>
                </c:pt>
                <c:pt idx="3">
                  <c:v>460</c:v>
                </c:pt>
                <c:pt idx="4">
                  <c:v>510</c:v>
                </c:pt>
                <c:pt idx="5">
                  <c:v>550</c:v>
                </c:pt>
                <c:pt idx="6">
                  <c:v>555</c:v>
                </c:pt>
                <c:pt idx="7">
                  <c:v>620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2B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3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300"/>
        </c:scaling>
        <c:delete val="0"/>
        <c:axPos val="l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3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1B2B3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B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B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AA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Kina</c:v>
                  </c:pt>
                  <c:pt idx="1">
                    <c:v>SAD</c:v>
                  </c:pt>
                  <c:pt idx="2">
                    <c:v>Indija</c:v>
                  </c:pt>
                  <c:pt idx="3">
                    <c:v>Rusija</c:v>
                  </c:pt>
                  <c:pt idx="4">
                    <c:v>Japan</c:v>
                  </c:pt>
                  <c:pt idx="5">
                    <c:v>Nemačka</c:v>
                  </c:pt>
                  <c:pt idx="6">
                    <c:v>Ostatak sveta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</c:v>
                </c:pt>
                <c:pt idx="1">
                  <c:v>16</c:v>
                </c:pt>
                <c:pt idx="2">
                  <c:v>6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  <c:pt idx="6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B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b"/>
        <c:majorGridlines>
          <c:spPr>
            <a:ln w="6350" cap="flat">
              <a:solidFill>
                <a:srgbClr val="DD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3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Uvodni slajd. Pitanje za publiku: da li znate koliko energije potrošite za jedan dan?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Definisati energiju i pokazati koliko je prisutna u svakodnevnom životu.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Izvor: procene na osnovu Energy Institute Statistical Review i IEA. Vrednosti su zaokružene.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Neobnovljivi izvori: nastajali milionima godina, troše se brže nego što se obnavljaju.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Obnovljivi izvori rastu najbrže. Nedostatak: sunce i vetar nisu uvek dostupni — potrebno skladištenje.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Objasniti lanac: proizvodnja → prenos → distribucija → potrošnja.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Rast potrošnje prati rast stanovništva i ekonomije, naročito Azije.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Razlika između ukupne potrošnje i potrošnje po glavi stanovnika.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Podaci IEA, zaokruženo. Napomena: ovo je finalna potrošnja, ne primarna.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Podaci EPS i Ministarstva energetike, približne vrednosti za 2023–2024.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Diskusija: koji je izazov najveći za Srbiju?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Naglasiti da su najjeftinija energija ona koju ne potrošimo.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Završiti pitanjem za publiku: šta ćete vi promeniti već sutra?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D2E">
              <a:alpha val="65000"/>
            </a:srgbClr>
          </a:solidFill>
          <a:ln w="12700">
            <a:solidFill>
              <a:srgbClr val="0B1D2E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PROIZVODNJA I POTROŠNJA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ENERGIJE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D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Odakle dolazi energija koju koristimo svakog dana — i kuda ona odlazi?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Prezentacija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je energija i zašto je važna?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Energija je sposobnost da se obavi rad. Bez nje nema svetla, toplote, saobraćaja ni interneta. Sve što nas okružuje pokreće neki oblik energije.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25603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Svetlost i toplota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Osvetljenje, grejanje i hlađenje naših domova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227832"/>
            <a:ext cx="457200" cy="45720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33284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31821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Kretanje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Automobili, vozovi, avioni i brodovi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3950208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380390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Proizvodnja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Fabrike, hrana, odeća, građevinarstvo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471416"/>
            <a:ext cx="457200" cy="45720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4572000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442569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Komunikacija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Telefoni, računari, internet, data centri</a:t>
            </a:r>
            <a:endParaRPr lang="en-US" sz="1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914400"/>
            <a:ext cx="3657600" cy="36576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Odakle svet dobija energiju?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Udeo izvora u svetskoj primarnoj energiji (2023, približno)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3716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394960" y="146304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svetske energije i dalje dolazi iz fosilnih goriva — nafte, uglja i gasa.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94960" y="3200400"/>
            <a:ext cx="32918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577840" y="3291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DB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4023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toliko su porasle solarna i vetro energija u poslednjih 10 godina — najbrže rastući izvori.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Neobnovljivi izvori energije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566160" cy="27706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Termoelektrana na ugalj — i dalje najveći izvor struje u svetu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480560" y="1234440"/>
            <a:ext cx="4206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617720" y="1353312"/>
            <a:ext cx="502920" cy="502920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62" y="1463954"/>
            <a:ext cx="281635" cy="28163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57800" y="12801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Ugalj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Najprljaviji izvor, ali jeftin i dostupan. Glavni izvor struje u Kini, Indiji i Srbiji.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480560" y="2103120"/>
            <a:ext cx="4206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617720" y="2221992"/>
            <a:ext cx="502920" cy="502920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362" y="2332634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57800" y="21488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Nafta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Pokreće skoro sav saobraćaj. Rezerve su ograničene, a cena zavisi od politike.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480560" y="2971800"/>
            <a:ext cx="4206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617720" y="3090672"/>
            <a:ext cx="502920" cy="502920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362" y="3201314"/>
            <a:ext cx="281635" cy="28163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257800" y="301752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Prirodni gas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Čistiji od uglja, koristi se za grejanje i struju. Zavisnost od uvoza je rizik.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4480560" y="3840480"/>
            <a:ext cx="4206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617720" y="3959352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362" y="4069994"/>
            <a:ext cx="281635" cy="28163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257800" y="388620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Nuklearna energija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Ogromna snaga bez CO₂, ali skupa izgradnja i pitanje otpada.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Obnovljivi izvori energije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5837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Solarni paneli — najjeftinija nova struja na svetu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651760" y="128016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834640" y="1463040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341" y="158374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Vetar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2377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Vetroparkovi na kopnu i na moru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246120"/>
            <a:ext cx="548640" cy="548640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336682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Voda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Hidroelektrane — najstariji obnovljivi izvor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651760" y="30632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834640" y="3246120"/>
            <a:ext cx="548640" cy="54864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5341" y="336682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83464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Biomasa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8346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Drvo, otpad i geotermalna toplota iz Zemlje</a:t>
            </a:r>
            <a:endParaRPr lang="en-US" sz="10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280160"/>
            <a:ext cx="3749040" cy="291693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37760" y="4297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Obnavljaju se prirodno i ne zagađuju vazduh tokom rada.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energije: od izvora do utičnice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731520" cy="7315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1715414"/>
            <a:ext cx="409651" cy="40965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737360" y="1810512"/>
            <a:ext cx="365760" cy="228600"/>
          </a:xfrm>
          <a:prstGeom prst="rightArrow">
            <a:avLst/>
          </a:prstGeom>
          <a:solidFill>
            <a:srgbClr val="3E5A75"/>
          </a:solidFill>
          <a:ln w="12700">
            <a:solidFill>
              <a:srgbClr val="3E5A7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468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Izvor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Ugalj, gas, voda, vetar ili sunce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554480"/>
            <a:ext cx="731520" cy="73152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254" y="1715414"/>
            <a:ext cx="409651" cy="40965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3280" y="1810512"/>
            <a:ext cx="365760" cy="228600"/>
          </a:xfrm>
          <a:prstGeom prst="rightArrow">
            <a:avLst/>
          </a:prstGeom>
          <a:solidFill>
            <a:srgbClr val="3E5A75"/>
          </a:solidFill>
          <a:ln w="12700">
            <a:solidFill>
              <a:srgbClr val="3E5A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194560" y="2468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Elektrana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194560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Turbina i generator pretvaraju energiju u struju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206240" y="1554480"/>
            <a:ext cx="731520" cy="7315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174" y="1715414"/>
            <a:ext cx="409651" cy="40965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0" y="1810512"/>
            <a:ext cx="365760" cy="228600"/>
          </a:xfrm>
          <a:prstGeom prst="rightArrow">
            <a:avLst/>
          </a:prstGeom>
          <a:solidFill>
            <a:srgbClr val="3E5A75"/>
          </a:solidFill>
          <a:ln w="12700">
            <a:solidFill>
              <a:srgbClr val="3E5A7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3840480" y="2468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Prenos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840480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Dalekovodi visokog napona prenose struju stotinama km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852160" y="1554480"/>
            <a:ext cx="731520" cy="73152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4" y="1715414"/>
            <a:ext cx="409651" cy="409651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675120" y="1810512"/>
            <a:ext cx="365760" cy="228600"/>
          </a:xfrm>
          <a:prstGeom prst="rightArrow">
            <a:avLst/>
          </a:prstGeom>
          <a:solidFill>
            <a:srgbClr val="3E5A75"/>
          </a:solidFill>
          <a:ln w="12700">
            <a:solidFill>
              <a:srgbClr val="3E5A7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486400" y="2468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Distribucija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0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Trafostanice spuštaju napon do naših domova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498080" y="1554480"/>
            <a:ext cx="731520" cy="7315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14" y="1715414"/>
            <a:ext cx="409651" cy="409651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132320" y="2468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Potrošnja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132320" y="2788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Uređaji, svetlo, grejanje, industrija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14118"/>
            </a:avLst>
          </a:prstGeom>
          <a:solidFill>
            <a:srgbClr val="132C44"/>
          </a:solidFill>
          <a:ln w="12700">
            <a:solidFill>
              <a:srgbClr val="132C4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388620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Zanimljivost: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putu od elektrane do potrošača izgubi se 5–10% struje kao toplota u kablovima. U Srbiji su ti gubici i do 12%.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Svet troši sve više energije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Svetska potrošnja primarne energije (eksadžuli, EJ)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37160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463040"/>
            <a:ext cx="25603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309360" y="1554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+80%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porast potrošnje od 1990. godine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3200400"/>
            <a:ext cx="25603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309360" y="32918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3977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jedini pad u modernoj istoriji — pandemija je zaustavila svet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troši najviše energije?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Udeo u svetskoj potrošnji energije, % (2023, približno)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37160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463040"/>
            <a:ext cx="2926080" cy="3337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89320" y="169164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021" y="181234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675120" y="1737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po stanovniku…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989320" y="2377440"/>
            <a:ext cx="2514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Prosečan Amerikanac troši 2× više energije od Evropljanina i 3× više od Kineza.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Stanovnik Afrike troši 10× manje od stanovnika SAD.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Oko 700 miliona ljudi u svetu i dalje nema pristup struji.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šta se energija troši?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Finalna potrošnja energije po sektorima, % (svet)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123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44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Industrija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čelik, cement, hemija, hrana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06040" y="150876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88920" y="1691640"/>
            <a:ext cx="548640" cy="5486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1" y="181234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28%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944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Saobraćaj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7889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drumski saobraćaj čini ¾ toga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663440" y="150876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9164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81234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944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Domaćinstva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48463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grejanje, kuvanje, uređaji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720840" y="1508760"/>
            <a:ext cx="1874520" cy="21031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03720" y="1691640"/>
            <a:ext cx="548640" cy="54864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421" y="181234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037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B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14%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2944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Usluge i ostalo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69037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kancelarije, škole, poljoprivreda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48640" y="3840480"/>
            <a:ext cx="8046720" cy="868680"/>
          </a:xfrm>
          <a:prstGeom prst="roundRect">
            <a:avLst>
              <a:gd name="adj" fmla="val 12632"/>
            </a:avLst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005072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125773"/>
            <a:ext cx="307238" cy="30723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3886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Skriveni potrošač: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grejanje i hlađenje prostora čine oko 50% energije koju koriste zgrade. Dobra izolacija štedi više nego bilo koji uređaj.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Energija u Srbiji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566160" cy="27706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69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Đerdap na Dunavu — najveća hidroelektrana u Srbiji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480560" y="1234440"/>
            <a:ext cx="2057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663440" y="13441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≈65%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892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struje dolazi iz uglja (lignita) — TE Nikola Tesla, Kostolac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629400" y="1234440"/>
            <a:ext cx="2057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12280" y="13441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≈30%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18928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 hidroelektrana — Đerdap, Bajina Bašta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480560" y="2651760"/>
            <a:ext cx="2057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63440" y="2761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B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≈5%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33101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 vetra, sunca i biomase — ali brzo raste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29400" y="2651760"/>
            <a:ext cx="20574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812280" y="27614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33101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gasa i većina nafte se uvozi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480560" y="4114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Srbija troši oko 2× više energije po jedinici BDP-a od proseka EU — velika prilika za uštedu.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D2E">
              <a:alpha val="70000"/>
            </a:srgbClr>
          </a:solidFill>
          <a:ln w="12700">
            <a:solidFill>
              <a:srgbClr val="0B1D2E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Najveći izazovi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32C44"/>
          </a:solidFill>
          <a:ln w="12700">
            <a:solidFill>
              <a:srgbClr val="132C4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0876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Klimatske promene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Energetika pravi ¾ svetskih emisija gasova staklene bašte.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32C44"/>
          </a:solidFill>
          <a:ln w="12700">
            <a:solidFill>
              <a:srgbClr val="132C4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46320" y="1508760"/>
            <a:ext cx="548640" cy="54864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62946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Zavisnost i sigurnost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577840" y="1920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Ratovi i krize dižu cene gasa i nafte preko noći.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32C44"/>
          </a:solidFill>
          <a:ln w="12700">
            <a:solidFill>
              <a:srgbClr val="132C4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20040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1" y="3321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Rastuća potražnja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611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Klima-uređaji, električni automobili i AI data centri traže sve više struje.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6634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32C44"/>
          </a:solidFill>
          <a:ln w="12700">
            <a:solidFill>
              <a:srgbClr val="132C4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46320" y="3200400"/>
            <a:ext cx="548640" cy="54864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21" y="3321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784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Skladištenje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577840" y="3611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Sunce i vetar ne rade uvek — potrebne su baterije i pametne mreže.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možemo da uradimo?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Energetska tranzicija — velike odluke i mali koraci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8123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nivou države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774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Ulaganje u solarne i vetro elektrane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Modernizacija mreže i smanjenje gubitaka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Postepeno gašenje starih termoelektrana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Podsticaji za izolaciju zgrada i toplotne pumpe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508760"/>
            <a:ext cx="393192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691640"/>
            <a:ext cx="548640" cy="54864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4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737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kuće — već danas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3774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sijalice troše 80% manje od običnih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Isključi uređaje iz „stand-by“ režima — do 10% računa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Termostat niži za 1°C = 6% manje energije za grejanje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B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Pešačenje, bicikl i javni prevoz umesto auta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3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D2E">
              <a:alpha val="75000"/>
            </a:srgbClr>
          </a:solidFill>
          <a:ln w="12700">
            <a:solidFill>
              <a:srgbClr val="0B1D2E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ZAKLJUČAK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Energija pokreće svet — a način na koji je proizvodimo i trošimo odlučuje kakav će taj svet biti.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6" y="2467966"/>
            <a:ext cx="230429" cy="23042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23500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energije još dolazi iz fosilnih goriva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6" y="3016606"/>
            <a:ext cx="230429" cy="23042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289864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Potrošnja raste — svet, Azija, data centri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6" y="3565246"/>
            <a:ext cx="230429" cy="23042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34472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Obnovljivi izvori su najbrže rastući i najjeftiniji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4023360"/>
            <a:ext cx="411480" cy="411480"/>
          </a:xfrm>
          <a:prstGeom prst="ellipse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6" y="4113886"/>
            <a:ext cx="230429" cy="23042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399592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Najjeftinija energija je ona koju ne potrošimo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D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  •  Pitanja?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2026-09-30T21:09:04Z</dcterms:created>
  <dcterms:modified xsi:type="dcterms:W3CDTF">2026-09-30T21:09:04Z</dcterms:modified>
</cp:coreProperties>
</file>